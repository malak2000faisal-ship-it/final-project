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2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70" r:id="rId3"/>
    <p:sldId id="268" r:id="rId4"/>
    <p:sldId id="257" r:id="rId5"/>
    <p:sldId id="258" r:id="rId6"/>
    <p:sldId id="259" r:id="rId7"/>
    <p:sldId id="271" r:id="rId17"/>
    <p:sldId id="262" r:id="rId8"/>
    <p:sldId id="263" r:id="rId9"/>
    <p:sldId id="266" r:id="rId10"/>
    <p:sldId id="269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45" autoAdjust="0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61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Relationship Id="rId17" Type="http://schemas.openxmlformats.org/officeDocument/2006/relationships/slide" Target="slides/slide12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3687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hyperlink" Target="http://localhost:8501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292340" cy="51435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530340" y="0"/>
            <a:ext cx="2613660" cy="5143500"/>
          </a:xfrm>
          <a:prstGeom prst="rect">
            <a:avLst/>
          </a:prstGeom>
          <a:solidFill>
            <a:srgbClr val="FDF6EC"/>
          </a:solidFill>
          <a:ln w="12700">
            <a:solidFill>
              <a:srgbClr val="FDF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40233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ea typeface="Georgia" pitchFamily="34" charset="-122"/>
                <a:cs typeface="Georgia" pitchFamily="34" charset="-120"/>
              </a:rPr>
              <a:t>SMART</a:t>
            </a:r>
            <a:endParaRPr lang="en-US" sz="3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ea typeface="Georgia" pitchFamily="34" charset="-122"/>
                <a:cs typeface="Georgia" pitchFamily="34" charset="-120"/>
              </a:rPr>
              <a:t>ATTENDANCE</a:t>
            </a:r>
            <a:endParaRPr lang="en-US" sz="3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ea typeface="Georgia" pitchFamily="34" charset="-122"/>
                <a:cs typeface="Georgia" pitchFamily="34" charset="-120"/>
              </a:rPr>
              <a:t>SYSTEM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40690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5B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Face Recognition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37760" y="5943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chemeClr val="tx2">
                    <a:lumMod val="5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 Project</a:t>
            </a:r>
            <a:endParaRPr lang="en-US" sz="13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4937760" y="9601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E9B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 Science Course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8DBE612-F3B0-218F-C303-7810523AC5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347"/>
            <a:ext cx="9144000" cy="5036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4780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822960" y="109728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744"/>
                </a:solidFill>
                <a:ea typeface="Georgia" pitchFamily="34" charset="-122"/>
                <a:cs typeface="Georgia" pitchFamily="34" charset="-120"/>
              </a:rPr>
              <a:t>The Problem — Why This Matters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74904" y="934212"/>
            <a:ext cx="8138160" cy="502920"/>
          </a:xfrm>
          <a:prstGeom prst="rect">
            <a:avLst/>
          </a:prstGeom>
          <a:solidFill>
            <a:srgbClr val="E3F4EB"/>
          </a:solidFill>
          <a:ln w="12700">
            <a:solidFill>
              <a:srgbClr val="A8D5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57784" y="99822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A27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Teachers struggle every day with manual attendance. It wastes time and causes mistakes.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74904" y="1546860"/>
            <a:ext cx="3474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22376" y="1546860"/>
            <a:ext cx="7699248" cy="475488"/>
          </a:xfrm>
          <a:prstGeom prst="rect">
            <a:avLst/>
          </a:prstGeom>
          <a:solidFill>
            <a:srgbClr val="F0F2F5"/>
          </a:solidFill>
          <a:ln w="12700">
            <a:solidFill>
              <a:srgbClr val="F0F2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77824" y="1638300"/>
            <a:ext cx="7406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7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❌  Writing names by hand takes 5-10 minutes every class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74904" y="2122932"/>
            <a:ext cx="3474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22376" y="2122932"/>
            <a:ext cx="769924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0F2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77824" y="2214372"/>
            <a:ext cx="7406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7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❌  Easy to make mistakes — wrong name or missed student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74904" y="2699004"/>
            <a:ext cx="3474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22376" y="2699004"/>
            <a:ext cx="7699248" cy="475488"/>
          </a:xfrm>
          <a:prstGeom prst="rect">
            <a:avLst/>
          </a:prstGeom>
          <a:solidFill>
            <a:srgbClr val="F0F2F5"/>
          </a:solidFill>
          <a:ln w="12700">
            <a:solidFill>
              <a:srgbClr val="F0F2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77824" y="2790444"/>
            <a:ext cx="7406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7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❌  No way to know if a student is awake or sleeping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74904" y="3275076"/>
            <a:ext cx="3474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22376" y="3275076"/>
            <a:ext cx="769924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0F2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77824" y="3366516"/>
            <a:ext cx="7406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7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❌  Parents are not notified when their child is absent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74904" y="3851148"/>
            <a:ext cx="3474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22376" y="3851148"/>
            <a:ext cx="7699248" cy="475488"/>
          </a:xfrm>
          <a:prstGeom prst="rect">
            <a:avLst/>
          </a:prstGeom>
          <a:solidFill>
            <a:srgbClr val="F0F2F5"/>
          </a:solidFill>
          <a:ln w="12700">
            <a:solidFill>
              <a:srgbClr val="F0F2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77824" y="3942588"/>
            <a:ext cx="7406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7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❌  No digital record — paper lists get lost easily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822960" y="109728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200" b="1" dirty="0">
                <a:solidFill>
                  <a:srgbClr val="1A2744"/>
                </a:solidFill>
              </a:rPr>
              <a:t>Goals — Why Did We Build This?</a:t>
            </a:r>
          </a:p>
        </p:txBody>
      </p:sp>
      <p:sp>
        <p:nvSpPr>
          <p:cNvPr id="7" name="Shape 5"/>
          <p:cNvSpPr/>
          <p:nvPr/>
        </p:nvSpPr>
        <p:spPr>
          <a:xfrm>
            <a:off x="475488" y="896112"/>
            <a:ext cx="8138160" cy="502920"/>
          </a:xfrm>
          <a:prstGeom prst="rect">
            <a:avLst/>
          </a:prstGeom>
          <a:solidFill>
            <a:srgbClr val="E3F4EB"/>
          </a:solidFill>
          <a:ln w="12700">
            <a:solidFill>
              <a:srgbClr val="A8D5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8368" y="96012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A27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Manual attendance is slow and error-prone. Parents don't know when their child is absent.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" y="1508760"/>
            <a:ext cx="3474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" y="1508760"/>
            <a:ext cx="7699248" cy="475488"/>
          </a:xfrm>
          <a:prstGeom prst="rect">
            <a:avLst/>
          </a:prstGeom>
          <a:solidFill>
            <a:srgbClr val="F0F2F5"/>
          </a:solidFill>
          <a:ln w="12700">
            <a:solidFill>
              <a:srgbClr val="F0F2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78408" y="1600200"/>
            <a:ext cx="7406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7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Automatically identify students using the camera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5488" y="2084832"/>
            <a:ext cx="3474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22960" y="2084832"/>
            <a:ext cx="769924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0F2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78408" y="2176272"/>
            <a:ext cx="7406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7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Record attendance — Present, Late, or Absent — with exact time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" y="2660904"/>
            <a:ext cx="3474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22960" y="2660904"/>
            <a:ext cx="7699248" cy="475488"/>
          </a:xfrm>
          <a:prstGeom prst="rect">
            <a:avLst/>
          </a:prstGeom>
          <a:solidFill>
            <a:srgbClr val="F0F2F5"/>
          </a:solidFill>
          <a:ln w="12700">
            <a:solidFill>
              <a:srgbClr val="F0F2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78408" y="2752344"/>
            <a:ext cx="7406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7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Detect if a student is Active or Sleepy during the session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5488" y="3236976"/>
            <a:ext cx="3474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22960" y="3236976"/>
            <a:ext cx="769924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0F2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78408" y="3328416"/>
            <a:ext cx="7406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7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Email parents automatically when their child is absent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75488" y="3813048"/>
            <a:ext cx="3474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22960" y="3813048"/>
            <a:ext cx="7699248" cy="475488"/>
          </a:xfrm>
          <a:prstGeom prst="rect">
            <a:avLst/>
          </a:prstGeom>
          <a:solidFill>
            <a:srgbClr val="F0F2F5"/>
          </a:solidFill>
          <a:ln w="12700">
            <a:solidFill>
              <a:srgbClr val="F0F2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78408" y="3904488"/>
            <a:ext cx="7406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7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Save a full Excel report for the teacher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822960" y="109728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200" b="1" dirty="0">
                <a:solidFill>
                  <a:srgbClr val="1A2744"/>
                </a:solidFill>
              </a:rPr>
              <a:t>Success Criteria &amp; Metrics</a:t>
            </a:r>
          </a:p>
        </p:txBody>
      </p:sp>
      <p:sp>
        <p:nvSpPr>
          <p:cNvPr id="7" name="Shape 5"/>
          <p:cNvSpPr/>
          <p:nvPr/>
        </p:nvSpPr>
        <p:spPr>
          <a:xfrm>
            <a:off x="3726180" y="877824"/>
            <a:ext cx="1874520" cy="3108960"/>
          </a:xfrm>
          <a:prstGeom prst="rect">
            <a:avLst/>
          </a:prstGeom>
          <a:solidFill>
            <a:srgbClr val="FDE8E0"/>
          </a:solidFill>
          <a:ln w="12700">
            <a:solidFill>
              <a:srgbClr val="F484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726180" y="877824"/>
            <a:ext cx="1874520" cy="73152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726180" y="1014984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484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70%</a:t>
            </a:r>
            <a:endParaRPr lang="en-US" sz="4400" dirty="0"/>
          </a:p>
        </p:txBody>
      </p:sp>
      <p:sp>
        <p:nvSpPr>
          <p:cNvPr id="10" name="Shape 8"/>
          <p:cNvSpPr/>
          <p:nvPr/>
        </p:nvSpPr>
        <p:spPr>
          <a:xfrm>
            <a:off x="3909060" y="1956816"/>
            <a:ext cx="1508760" cy="36576"/>
          </a:xfrm>
          <a:prstGeom prst="rect">
            <a:avLst/>
          </a:prstGeom>
          <a:solidFill>
            <a:srgbClr val="F4845F">
              <a:alpha val="50000"/>
            </a:srgbClr>
          </a:solidFill>
          <a:ln w="12700">
            <a:solidFill>
              <a:srgbClr val="F4845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726180" y="2048256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Accuracy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817620" y="2615184"/>
            <a:ext cx="1691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E9B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Correctly identifies students on unseen data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22960" y="416052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E9B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win = runs in real time, recognizes students, and exports a clean Excel report.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822960" y="109728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200" b="1" dirty="0">
                <a:solidFill>
                  <a:srgbClr val="1A2744"/>
                </a:solidFill>
              </a:rPr>
              <a:t>Data — Source, Quality &amp; Preprocessing</a:t>
            </a:r>
          </a:p>
        </p:txBody>
      </p:sp>
      <p:sp>
        <p:nvSpPr>
          <p:cNvPr id="8" name="Shape 6"/>
          <p:cNvSpPr/>
          <p:nvPr/>
        </p:nvSpPr>
        <p:spPr>
          <a:xfrm>
            <a:off x="-1054608" y="937260"/>
            <a:ext cx="4023360" cy="566928"/>
          </a:xfrm>
          <a:prstGeom prst="rect">
            <a:avLst/>
          </a:prstGeom>
          <a:solidFill>
            <a:srgbClr val="A8D5BA"/>
          </a:solidFill>
          <a:ln w="12700">
            <a:solidFill>
              <a:srgbClr val="A8D5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56972" y="1001268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 Data  (Faces Folder)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56972" y="1760220"/>
            <a:ext cx="73152" cy="201168"/>
          </a:xfrm>
          <a:prstGeom prst="rect">
            <a:avLst/>
          </a:prstGeom>
          <a:solidFill>
            <a:srgbClr val="A8D5BA"/>
          </a:solidFill>
          <a:ln w="12700">
            <a:solidFill>
              <a:srgbClr val="A8D5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12420" y="162306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7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Large celebrity face dataset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56972" y="2382012"/>
            <a:ext cx="73152" cy="201168"/>
          </a:xfrm>
          <a:prstGeom prst="rect">
            <a:avLst/>
          </a:prstGeom>
          <a:solidFill>
            <a:srgbClr val="A8D5BA"/>
          </a:solidFill>
          <a:ln w="12700">
            <a:solidFill>
              <a:srgbClr val="A8D5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12420" y="2244852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7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Many images per person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56972" y="3003804"/>
            <a:ext cx="73152" cy="201168"/>
          </a:xfrm>
          <a:prstGeom prst="rect">
            <a:avLst/>
          </a:prstGeom>
          <a:solidFill>
            <a:srgbClr val="A8D5BA"/>
          </a:solidFill>
          <a:ln w="12700">
            <a:solidFill>
              <a:srgbClr val="A8D5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12420" y="2866644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7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Teaches CNN how faces look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56972" y="3625596"/>
            <a:ext cx="73152" cy="201168"/>
          </a:xfrm>
          <a:prstGeom prst="rect">
            <a:avLst/>
          </a:prstGeom>
          <a:solidFill>
            <a:srgbClr val="A8D5BA"/>
          </a:solidFill>
          <a:ln w="12700">
            <a:solidFill>
              <a:srgbClr val="A8D5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12420" y="3488436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7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70% train · 15% val · 15% test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783580" y="1929384"/>
            <a:ext cx="4023360" cy="566928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821680" y="1993392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 Data  (Students.xlsx)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821680" y="2752344"/>
            <a:ext cx="73152" cy="201168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977128" y="2615184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7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Name, Phone, Parent Email, Image Path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821680" y="3374136"/>
            <a:ext cx="73152" cy="201168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977128" y="3236976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7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Added from Streamlit app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821680" y="3995928"/>
            <a:ext cx="73152" cy="201168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977128" y="3858768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7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One photo minimum per student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821680" y="4617720"/>
            <a:ext cx="73152" cy="201168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977128" y="448056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7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Easy to update in Excel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822960" y="109728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200" b="1" dirty="0">
                <a:solidFill>
                  <a:srgbClr val="1A2744"/>
                </a:solidFill>
              </a:rPr>
              <a:t>Findings — What Did the Data Tell Us?</a:t>
            </a:r>
          </a:p>
        </p:txBody>
      </p:sp>
      <p:sp>
        <p:nvSpPr>
          <p:cNvPr id="7" name="Shape 5"/>
          <p:cNvSpPr/>
          <p:nvPr/>
        </p:nvSpPr>
        <p:spPr>
          <a:xfrm>
            <a:off x="365760" y="975360"/>
            <a:ext cx="4023360" cy="164592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FF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15568" y="1139952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Extraction &gt; Direct Prediction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30352" y="1752600"/>
            <a:ext cx="3703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9B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Model recognized faces it never saw during training.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0" y="975360"/>
            <a:ext cx="4023360" cy="164592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FF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321808" y="1139952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More photos = better accuracy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36592" y="1752600"/>
            <a:ext cx="3703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9B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Students with multiple photos were recognized more reliably.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60320" y="2877312"/>
            <a:ext cx="4023360" cy="164592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FF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310128" y="3041904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Drowsiness works best in good lighting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724912" y="3654552"/>
            <a:ext cx="3703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9B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Eye detection needs student facing camera directly.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822960" y="109728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200" b="1" dirty="0">
                <a:solidFill>
                  <a:srgbClr val="1A2744"/>
                </a:solidFill>
              </a:rPr>
              <a:t>Risks &amp; Limitations — Being Honest</a:t>
            </a:r>
          </a:p>
        </p:txBody>
      </p:sp>
      <p:sp>
        <p:nvSpPr>
          <p:cNvPr id="7" name="Shape 5"/>
          <p:cNvSpPr/>
          <p:nvPr/>
        </p:nvSpPr>
        <p:spPr>
          <a:xfrm>
            <a:off x="327660" y="845820"/>
            <a:ext cx="4023360" cy="1234440"/>
          </a:xfrm>
          <a:prstGeom prst="rect">
            <a:avLst/>
          </a:prstGeom>
          <a:solidFill>
            <a:srgbClr val="FDE8E0"/>
          </a:solidFill>
          <a:ln w="12700">
            <a:solidFill>
              <a:srgbClr val="FF0000"/>
            </a:solidFill>
            <a:prstDash val="solid"/>
          </a:ln>
          <a:effectLst/>
        </p:spPr>
        <p:txBody>
          <a:bodyPr/>
          <a:lstStyle/>
          <a:p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28828" y="95554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⚠️  70% accuracy — not perfect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28828" y="13944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9B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 in 4 may be wrong. More photos help.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33900" y="845820"/>
            <a:ext cx="4023360" cy="1234440"/>
          </a:xfrm>
          <a:prstGeom prst="rect">
            <a:avLst/>
          </a:prstGeom>
          <a:solidFill>
            <a:srgbClr val="FDE8E0"/>
          </a:solidFill>
          <a:ln w="12700">
            <a:solidFill>
              <a:srgbClr val="FF000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35068" y="95554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💡  Lighting matters a lot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35068" y="13944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9B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Poor light reduces detection quality.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7660" y="2263140"/>
            <a:ext cx="4023360" cy="1234440"/>
          </a:xfrm>
          <a:prstGeom prst="rect">
            <a:avLst/>
          </a:prstGeom>
          <a:solidFill>
            <a:srgbClr val="FDE8E0"/>
          </a:solidFill>
          <a:ln w="12700">
            <a:solidFill>
              <a:srgbClr val="FF000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28828" y="237286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👓  Appearance changes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8828" y="28117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9B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Glasses or hats may affect results.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33900" y="2263140"/>
            <a:ext cx="4023360" cy="1234440"/>
          </a:xfrm>
          <a:prstGeom prst="rect">
            <a:avLst/>
          </a:prstGeom>
          <a:solidFill>
            <a:srgbClr val="FDE8E0"/>
          </a:solidFill>
          <a:ln w="12700">
            <a:solidFill>
              <a:srgbClr val="FF000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35068" y="237286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📸  One photo per student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35068" y="28117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9B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More photos = better recognition.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7660" y="3680460"/>
            <a:ext cx="4023360" cy="1234440"/>
          </a:xfrm>
          <a:prstGeom prst="rect">
            <a:avLst/>
          </a:prstGeom>
          <a:solidFill>
            <a:srgbClr val="FDE8E0"/>
          </a:solidFill>
          <a:ln w="12700">
            <a:solidFill>
              <a:srgbClr val="FF000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28828" y="379018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🔁  Retraining needed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28828" y="42291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9B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Must re-run for new students.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33900" y="3680460"/>
            <a:ext cx="4023360" cy="1234440"/>
          </a:xfrm>
          <a:prstGeom prst="rect">
            <a:avLst/>
          </a:prstGeom>
          <a:solidFill>
            <a:srgbClr val="FDE8E0"/>
          </a:solidFill>
          <a:ln w="12700">
            <a:solidFill>
              <a:srgbClr val="FF000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35068" y="379018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🖥️  Streamlit UI blocks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735068" y="42291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9B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Known OpenCV + Streamlit limitation.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/>
          <p:nvPr/>
        </p:nvSpPr>
        <p:spPr>
          <a:xfrm>
            <a:off x="365760" y="640080"/>
            <a:ext cx="779526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5400" b="1" dirty="0">
                <a:solidFill>
                  <a:schemeClr val="accent2">
                    <a:lumMod val="75000"/>
                  </a:schemeClr>
                </a:solidFill>
              </a:rPr>
              <a:t>THANK YOU!</a:t>
            </a:r>
          </a:p>
        </p:txBody>
      </p:sp>
      <p:sp>
        <p:nvSpPr>
          <p:cNvPr id="8" name="Text 6"/>
          <p:cNvSpPr/>
          <p:nvPr/>
        </p:nvSpPr>
        <p:spPr>
          <a:xfrm>
            <a:off x="457200" y="28803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8D5B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Attendance System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/>
          <p:nvPr/>
        </p:nvSpPr>
        <p:spPr>
          <a:xfrm>
            <a:off x="365760" y="64008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5400" b="1" dirty="0">
                <a:solidFill>
                  <a:schemeClr val="accent2">
                    <a:lumMod val="75000"/>
                  </a:schemeClr>
                </a:solidFill>
              </a:rPr>
              <a:t>Try It</a:t>
            </a:r>
          </a:p>
          <a:p>
            <a:r>
              <a:rPr lang="en-US" sz="5400" b="1" dirty="0">
                <a:solidFill>
                  <a:schemeClr val="accent2">
                    <a:lumMod val="75000"/>
                  </a:schemeClr>
                </a:solidFill>
              </a:rPr>
              <a:t>Live!</a:t>
            </a:r>
          </a:p>
        </p:txBody>
      </p:sp>
      <p:sp>
        <p:nvSpPr>
          <p:cNvPr id="8" name="Text 6"/>
          <p:cNvSpPr/>
          <p:nvPr/>
        </p:nvSpPr>
        <p:spPr>
          <a:xfrm>
            <a:off x="457200" y="28803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 err="1">
                <a:hlinkClick r:id="rId2"/>
              </a:rPr>
              <a:t>Streamlit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822960" y="109728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200" b="1" dirty="0">
                <a:solidFill>
                  <a:srgbClr val="1A2744"/>
                </a:solidFill>
              </a:rPr>
              <a:t>How Does It Work?</a:t>
            </a:r>
          </a:p>
        </p:txBody>
      </p:sp>
      <p:sp>
        <p:nvSpPr>
          <p:cNvPr id="7" name="Shape 5"/>
          <p:cNvSpPr/>
          <p:nvPr/>
        </p:nvSpPr>
        <p:spPr>
          <a:xfrm>
            <a:off x="365760" y="975360"/>
            <a:ext cx="4023360" cy="164592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FF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15568" y="1139952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 CNN  —  Learn Faces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30352" y="1752600"/>
            <a:ext cx="3703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9B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 trained a CNN model on face images. It learns what makes each face unique.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0" y="975360"/>
            <a:ext cx="4023360" cy="164592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FF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321808" y="1139952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 Feature Extraction  —  Face to Numbers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36592" y="1752600"/>
            <a:ext cx="3703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9B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 remove the last layer. Now the model turns any face into 128 numbers — like a fingerprint.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60320" y="2877312"/>
            <a:ext cx="4023360" cy="164592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FF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310128" y="3041904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 Cosine Similarity  —  Find the Match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724912" y="3654552"/>
            <a:ext cx="3703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9B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 compare the 128 numbers from the camera with each student. Closest match = that student!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2081</TotalTime>
  <Words>397</Words>
  <Application>Microsoft Office PowerPoint</Application>
  <PresentationFormat>On-screen Show (16:9)</PresentationFormat>
  <Paragraphs>68</Paragraphs>
  <Slides>10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 Light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Malak Faisal Alqudah</cp:lastModifiedBy>
  <cp:revision>4</cp:revision>
  <dcterms:created xsi:type="dcterms:W3CDTF">2026-04-18T11:57:35Z</dcterms:created>
  <dcterms:modified xsi:type="dcterms:W3CDTF">2026-04-20T20:00:45Z</dcterms:modified>
</cp:coreProperties>
</file>